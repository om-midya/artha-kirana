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3840480" cy="41148"/>
          </a:xfrm>
          <a:prstGeom prst="rect">
            <a:avLst/>
          </a:prstGeom>
          <a:solidFill>
            <a:srgbClr val="5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800" b="1">
                <a:solidFill>
                  <a:srgbClr val="FFFFFF"/>
                </a:solidFill>
                <a:latin typeface="Arial Black"/>
              </a:rPr>
              <a:t>ARTHA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Turning the kirana counter into a </a:t>
            </a:r>
            <a:r>
              <a:rPr sz="2600" b="1">
                <a:solidFill>
                  <a:srgbClr val="3CFFD0"/>
                </a:solidFill>
                <a:latin typeface="Arial"/>
              </a:rPr>
              <a:t>financial identity</a:t>
            </a:r>
            <a:r>
              <a:rPr sz="2600" b="0">
                <a:solidFill>
                  <a:srgbClr val="FFFFFF"/>
                </a:solidFill>
                <a:latin typeface="Arial"/>
              </a:rPr>
              <a:t> for the next 500 million.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949494"/>
                </a:solidFill>
                <a:latin typeface="Arial"/>
              </a:rPr>
              <a:t>An AI commerce-and-finance OS for India's 13 million corner shops — </a:t>
            </a:r>
            <a:r>
              <a:rPr sz="1700" b="1">
                <a:solidFill>
                  <a:srgbClr val="949494"/>
                </a:solidFill>
                <a:latin typeface="Arial"/>
              </a:rPr>
              <a:t>the phone is the only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CFFD0"/>
                </a:solidFill>
                <a:latin typeface="Consolas"/>
              </a:rPr>
              <a:t>PS 3 · REIMAGINE MONEY FOR BHARAT</a:t>
            </a:r>
            <a:r>
              <a:rPr sz="1300" b="0">
                <a:solidFill>
                  <a:srgbClr val="949494"/>
                </a:solidFill>
                <a:latin typeface="Consolas"/>
              </a:rPr>
              <a:t>      iQOO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3B6B"/>
                </a:solidFill>
                <a:latin typeface="Consolas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926080" cy="41148"/>
          </a:xfrm>
          <a:prstGeom prst="rect">
            <a:avLst/>
          </a:prstGeom>
          <a:solidFill>
            <a:srgbClr val="FF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 Black"/>
              </a:rPr>
              <a:t>13 million kirana stores run India. </a:t>
            </a:r>
            <a:r>
              <a:rPr sz="3000" b="1">
                <a:solidFill>
                  <a:srgbClr val="FF3B6B"/>
                </a:solidFill>
                <a:latin typeface="Arial Black"/>
              </a:rPr>
              <a:t>They run on paper.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CFFD0"/>
                </a:solidFill>
                <a:latin typeface="Arial Black"/>
              </a:rPr>
              <a:t>Invisible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743200"/>
            <a:ext cx="79552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The day's sales, the udhaar owed, the stock running low live in a notebook under the counter.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CFFD0"/>
                </a:solidFill>
                <a:latin typeface="Arial Black"/>
              </a:rPr>
              <a:t>No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703320"/>
            <a:ext cx="79552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She can't see her own profit or cash flow — no P&amp;L, no idea what's bleeding her margin.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CFFD0"/>
                </a:solidFill>
                <a:latin typeface="Arial Black"/>
              </a:rPr>
              <a:t>No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663440"/>
            <a:ext cx="79552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 20-year track record earns her ZERO formal credit. The bank can't see paper.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CFFD0"/>
                </a:solidFill>
                <a:latin typeface="Arial Black"/>
              </a:rPr>
              <a:t>Under siege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623560"/>
            <a:ext cx="79552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Quick-commerce has shut 200,000 kiranas since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CFFD0"/>
                </a:solidFill>
                <a:latin typeface="Consolas"/>
              </a:rPr>
              <a:t>THE SOLUTION · ONE LOOP, ALL ON THE PHONE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5486400" cy="41148"/>
          </a:xfrm>
          <a:prstGeom prst="rect">
            <a:avLst/>
          </a:prstGeom>
          <a:solidFill>
            <a:srgbClr val="5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 Black"/>
              </a:rPr>
              <a:t>capture → understand → advise → sell → 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CFFD0"/>
                </a:solidFill>
                <a:latin typeface="Consolas"/>
              </a:rPr>
              <a:t>1 ·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423160"/>
            <a:ext cx="8229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Photograph a ledger, a customer bill, or a wholesaler challan — or just speak it. Claude Opus 4.8 vision reads Hindi handwriting; whisper.cpp handles voice on-device. Zero typing.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73552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CFFD0"/>
                </a:solidFill>
                <a:latin typeface="Consolas"/>
              </a:rPr>
              <a:t>2 ·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73552"/>
            <a:ext cx="8229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Entries auto-build a live P&amp;L, inventory (cost→sell margins, low-stock), and udhaar tracker. Every line snapshots price+cost — credit-grade data, not estimates.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23944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84D"/>
                </a:solidFill>
                <a:latin typeface="Consolas"/>
              </a:rPr>
              <a:t>3 · ADVISE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23944"/>
            <a:ext cx="8229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Four AI agents brief her daily; an agentic assistant answers anything in her language — with inline charts — and drafts sales/payments she confirms.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74336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CFFD0"/>
                </a:solidFill>
                <a:latin typeface="Consolas"/>
              </a:rPr>
              <a:t>4 · 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974336"/>
            <a:ext cx="8229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One tap publishes her live stock as a neighbourhood storefront — her counter-punch to quick commerce, from data she already has.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24728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C33FF"/>
                </a:solidFill>
                <a:latin typeface="Consolas"/>
              </a:rPr>
              <a:t>5 · CREDIT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824728"/>
            <a:ext cx="8229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Every rupee feeds an Artha Score (0–100) + working-capital band — an alternative-data credit profile from real commerce flow. The first credit she was ever offered.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CFFD0"/>
                </a:solidFill>
                <a:latin typeface="Consolas"/>
              </a:rPr>
              <a:t>THE PRODUCT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32688"/>
            <a:ext cx="2743200" cy="41148"/>
          </a:xfrm>
          <a:prstGeom prst="rect">
            <a:avLst/>
          </a:prstGeom>
          <a:solidFill>
            <a:srgbClr val="5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149" y="1234440"/>
            <a:ext cx="2119745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47549" y="6035040"/>
            <a:ext cx="257694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CFFD0"/>
                </a:solidFill>
                <a:latin typeface="Consolas"/>
              </a:rPr>
              <a:t>HOME + DATE NAV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949494"/>
                </a:solidFill>
                <a:latin typeface="Arial"/>
              </a:rPr>
              <a:t>Any day's P&amp;L · ◄ date ►</a:t>
            </a:r>
          </a:p>
        </p:txBody>
      </p:sp>
      <p:pic>
        <p:nvPicPr>
          <p:cNvPr id="6" name="Picture 5" descr="pn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974" y="1234440"/>
            <a:ext cx="2119745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7374" y="6035040"/>
            <a:ext cx="257694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CFFD0"/>
                </a:solidFill>
                <a:latin typeface="Consolas"/>
              </a:rPr>
              <a:t>P&amp;L DASHBOARD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949494"/>
                </a:solidFill>
                <a:latin typeface="Arial"/>
              </a:rPr>
              <a:t>Revenue · profit · udhaar · chart</a:t>
            </a:r>
          </a:p>
        </p:txBody>
      </p:sp>
      <p:pic>
        <p:nvPicPr>
          <p:cNvPr id="8" name="Picture 7" descr="scan-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800" y="1234440"/>
            <a:ext cx="2119745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67200" y="6035040"/>
            <a:ext cx="257694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CFFD0"/>
                </a:solidFill>
                <a:latin typeface="Consolas"/>
              </a:rPr>
              <a:t>SCAN A SALE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949494"/>
                </a:solidFill>
                <a:latin typeface="Arial"/>
              </a:rPr>
              <a:t>Customer bill / day scribble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CFFD0"/>
                </a:solidFill>
                <a:latin typeface="Consolas"/>
              </a:rPr>
              <a:t>THE PRODUCT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32688"/>
            <a:ext cx="2743200" cy="41148"/>
          </a:xfrm>
          <a:prstGeom prst="rect">
            <a:avLst/>
          </a:prstGeom>
          <a:solidFill>
            <a:srgbClr val="5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n-chal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149" y="1234440"/>
            <a:ext cx="2119745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47549" y="6035040"/>
            <a:ext cx="257694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CFFD0"/>
                </a:solidFill>
                <a:latin typeface="Consolas"/>
              </a:rPr>
              <a:t>SCAN A CHALLAN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949494"/>
                </a:solidFill>
                <a:latin typeface="Arial"/>
              </a:rPr>
              <a:t>Supplier bill → priced stock</a:t>
            </a:r>
          </a:p>
        </p:txBody>
      </p:sp>
      <p:pic>
        <p:nvPicPr>
          <p:cNvPr id="6" name="Picture 5" descr="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974" y="1234440"/>
            <a:ext cx="2119745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7374" y="6035040"/>
            <a:ext cx="257694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CFFD0"/>
                </a:solidFill>
                <a:latin typeface="Consolas"/>
              </a:rPr>
              <a:t>ASK IN HINDI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949494"/>
                </a:solidFill>
                <a:latin typeface="Arial"/>
              </a:rPr>
              <a:t>Voice or text, your language</a:t>
            </a:r>
          </a:p>
        </p:txBody>
      </p:sp>
      <p:pic>
        <p:nvPicPr>
          <p:cNvPr id="8" name="Picture 7" descr="assistant-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800" y="1234440"/>
            <a:ext cx="2119745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67200" y="6035040"/>
            <a:ext cx="257694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CFFD0"/>
                </a:solidFill>
                <a:latin typeface="Consolas"/>
              </a:rPr>
              <a:t>AGENT + CHARTS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949494"/>
                </a:solidFill>
                <a:latin typeface="Arial"/>
              </a:rPr>
              <a:t>Reads live data, answers visually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CFFD0"/>
                </a:solidFill>
                <a:latin typeface="Consolas"/>
              </a:rPr>
              <a:t>ARCHITECTURE · PHONE-FIRST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3657600" cy="41148"/>
          </a:xfrm>
          <a:prstGeom prst="rect">
            <a:avLst/>
          </a:prstGeom>
          <a:solidFill>
            <a:srgbClr val="5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 Black"/>
              </a:rPr>
              <a:t>Cloud AI when there's signal, on-device when there isn't — it never stops.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CFFD0"/>
                </a:solidFill>
                <a:latin typeface="Consolas"/>
              </a:rPr>
              <a:t>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7744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Cloud-first via OpenRouter — Claude Haiku 4.5 (agents/parsing) + Opus 4.8 (vision) — with an on-device llama.cpp (Qwen 3B) fallback.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1868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CFFD0"/>
                </a:solidFill>
                <a:latin typeface="Consolas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18688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On-device Hindi STT — fine-tuned whisper-hindi-small (whisper.cpp, JNI, arm64).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599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CFFD0"/>
                </a:solidFill>
                <a:latin typeface="Consolas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059936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Tool-calling over 8 read-only shop-data tools (P&amp;L, top-sellers, customer, day-trend, margins, low-stock, who-owes, inventory) + draft-action tools → confirm cards.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0118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CFFD0"/>
                </a:solidFill>
                <a:latin typeface="Consolas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901184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Local Room/SQLite v3 — customers, price snapshots, reactive flows. Nothing critical leaves the phone.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4243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CFFD0"/>
                </a:solidFill>
                <a:latin typeface="Consolas"/>
              </a:rPr>
              <a:t>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742432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Kotlin · Jetpack Compose · Clean Arch · Hilt · 'The Verge' design system. OfficeKit bridges the build.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60120"/>
            <a:ext cx="3840480" cy="41148"/>
          </a:xfrm>
          <a:prstGeom prst="rect">
            <a:avLst/>
          </a:prstGeom>
          <a:solidFill>
            <a:srgbClr val="5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CFFD0"/>
                </a:solidFill>
                <a:latin typeface="Consolas"/>
              </a:rPr>
              <a:t>WHY IT HOLDS WHERE OTHERS BROKE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The ledger is </a:t>
            </a:r>
            <a:r>
              <a:rPr sz="2200" b="1">
                <a:solidFill>
                  <a:srgbClr val="3CFFD0"/>
                </a:solidFill>
                <a:latin typeface="Arial"/>
              </a:rPr>
              <a:t>free</a:t>
            </a:r>
            <a:r>
              <a:rPr sz="2200" b="0">
                <a:solidFill>
                  <a:srgbClr val="FFFFFF"/>
                </a:solidFill>
                <a:latin typeface="Arial"/>
              </a:rPr>
              <a:t> — acquisition + data, never the revenue.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The storefront builds </a:t>
            </a:r>
            <a:r>
              <a:rPr sz="2200" b="1">
                <a:solidFill>
                  <a:srgbClr val="3CFFD0"/>
                </a:solidFill>
                <a:latin typeface="Arial"/>
              </a:rPr>
              <a:t>daily habit</a:t>
            </a:r>
            <a:r>
              <a:rPr sz="2200" b="0">
                <a:solidFill>
                  <a:srgbClr val="FFFFFF"/>
                </a:solidFill>
                <a:latin typeface="Arial"/>
              </a:rPr>
              <a:t> and a digital order trail.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The credit layer is the </a:t>
            </a:r>
            <a:r>
              <a:rPr sz="2200" b="1">
                <a:solidFill>
                  <a:srgbClr val="3CFFD0"/>
                </a:solidFill>
                <a:latin typeface="Arial"/>
              </a:rPr>
              <a:t>monetisation</a:t>
            </a:r>
            <a:r>
              <a:rPr sz="2200" b="0">
                <a:solidFill>
                  <a:srgbClr val="FFFFFF"/>
                </a:solidFill>
                <a:latin typeface="Arial"/>
              </a:rPr>
              <a:t> the category never had.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49494"/>
                </a:solidFill>
                <a:latin typeface="Arial"/>
              </a:rPr>
              <a:t>Three PS angles — phone-as-POS, credit for the unbanked, a vernacular assistant — </a:t>
            </a:r>
            <a:r>
              <a:rPr sz="1800" b="1">
                <a:solidFill>
                  <a:srgbClr val="3CFFD0"/>
                </a:solidFill>
                <a:latin typeface="Arial"/>
              </a:rPr>
              <a:t>fused into one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 Black"/>
              </a:rPr>
              <a:t>ARTHA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3CFFD0"/>
                </a:solidFill>
                <a:latin typeface="Consolas"/>
              </a:rPr>
              <a:t>github.com/Om-Midya/artha-kirana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